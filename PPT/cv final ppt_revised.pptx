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9"/>
    <p:sldId id="269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03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0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F4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" y="1371600"/>
            <a:ext cx="91440" cy="173736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005840" y="1280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4D Gaussian Splatting (CVPR 2024) with SAM 2 + CLIP semantic distillation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– Final Review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206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Uthkarsh Sai (AM.SC.U4AID24031)   •   Akhil Reddy (AM.SC.U4AID24044)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Tenisha Akhila (AM.SC.U4AID24005)   •   Jagapathi Naidu (AM.SC.U4AID24026)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Jeevita Bhupati (AM.SC.U4AID24006)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 |   Computer Vision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(3DGS): explicit 3D Gaussians rendered in real time via differentiable rasterization.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NeRF alternative: faster rendering and optimization, and an explicit, editable representation.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standard 3DGS is static, but real scenes move (people, objects, deformations).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paper, 4D-GS (CVPR 2024): canonical Gaussians + HexPlane feature grid + small MLP predict deformation over time.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it reconstructs appearance and motion, but Gaussians carry no meaning (no object or part identity).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project: give every Gaussian a learnable semantic attribute, distilled from SAM 2 + CLIP.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Definition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 of 3DGS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static scenes; cannot represent moving objects or change over time.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gap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reconstruct shape and appearance, but not object identity, boundaries, or text-queryable regions.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challenge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is manual and low-level; no object-level or natural-language-driven editing.</a:t>
            </a:r>
            <a:endParaRPr lang="en-US" sz="20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2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 (our goal)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semantic-aware, editable, dynamic 3DGS framework: real-time reconstruction with semantic understanding and user-driven editing.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Related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our comparison and gap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070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4D-GS (base paper)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deformation field over canonical Gaussians (HexPlane + MLP); real-time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semantic tags; no editing interface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control anchors, 6-DoF transforms + ARAP loss for editing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optimization; manual control points; no semantics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OmniSplat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Training-free feed-forward 3DGS for 360° 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only; no temporal or object semantics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SplatAtt3R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ECCV 2024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Gaussians from uncalibrated image pairs (extends MASt3R)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Two-view, static; no semantic labels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none gives explicit, per-Gaussian, open-vocabulary semantic identity in a dynamic scene. This is the gap we target.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Proposed Solution / Novelty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efficient 4D-GS backbone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Gaussians + time-conditioned deformation; real-time speed preserved.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semantics at the Gaussian level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Gaussian has a learnable semantic vector (class logits / CLIP feature), alpha-blended like color, so supervision reaches individual Gaussians.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supervision from 2D foundation models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2: automatic object masks per frame. CLIP: per-mask features + text-guided labels. No manual 3D annotation.</a:t>
            </a:r>
            <a:endParaRPr lang="en-US" sz="19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9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 objective</a:t>
            </a:r>
            <a:endParaRPr lang="en-US" sz="1900" dirty="0"/>
          </a:p>
          <a:p>
            <a:pPr marL="558800" lvl="1" indent="-2794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loss (L1 + SSIM) + semantic loss against distilled 2D labels/features.</a:t>
            </a:r>
            <a:endParaRPr lang="en-US" sz="1900" dirty="0"/>
          </a:p>
          <a:p>
            <a:pPr marL="558800" lvl="1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L_RGB (L1 + D-SSIM) + λ_sem · L_sem (cross-entropy / cosine)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a dynamic Gaussian field where reconstruction, motion, and open-vocabulary semantics are learned jointly.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and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four-phase pipeline (Reconstruction ➔ Semantics ➔ 3D Lifting ➔ ARAP Editing)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601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Baseline Dynamic Reconstruction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4D-GS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CUDA rasterizer + KNN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canonical Gaussians + HexPlane on D-NeRF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dynamic RGB novel views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30175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6177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2D Semantic Extraction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+ CLIP, per frame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automatic masks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feature per mask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Text-prompt similarity → label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masks, label maps, CLIP features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44968" y="301752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1554480"/>
            <a:ext cx="3291840" cy="3291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7532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Semantic Lifting into 4D Gaussians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extended 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88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per-frame semantics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semantic vector per Gaussian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RGB + semantic rendering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RGB + semantic loss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(same alpha-blending, extended channel):   C = Σ Tᵢ αᵢ cᵢ        S = Σ Tᵢ αᵢ sᵢ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cᵢ and semantic attribute sᵢ share the same transmittance Tᵢ and opacity αᵢ, so semantic supervision reaches each Gaussian directly.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F6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rendering: </a:t>
            </a: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rasterizer handles 3 channels only, so the N-dim semantic/CLIP vector is split into 3-ch chunks, rendered per pass, and concatenated.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4D-GS Baseline Implementation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/>
              <a:t>Repository implementation based on the 4D-GS codebase</a:t>
            </a:r>
          </a:p>
          <a:p>
            <a:r>
              <a:rPr sz="1600"/>
              <a:t>• Deformation: HexPlane grid + MLP for time-conditioned motion (deformation.py, hexplane.py).</a:t>
            </a:r>
          </a:p>
          <a:p>
            <a:r>
              <a:rPr sz="1600"/>
              <a:t>• Gaussian model: position, opacity, covariance and appearance (gaussian_model.py).</a:t>
            </a:r>
          </a:p>
          <a:p>
            <a:r>
              <a:rPr sz="1600"/>
              <a:t>• Training, rendering, dataset loaders and CUDA submodule integration are present.</a:t>
            </a:r>
          </a:p>
          <a:p>
            <a:r>
              <a:rPr sz="1600"/>
              <a:t>• Phase-1 notebook documents the intended D-NeRF workflow.</a:t>
            </a:r>
          </a:p>
          <a:p/>
          <a:p>
            <a:r>
              <a:rPr sz="1600"/>
              <a:t>Evidence boundary: source and workflow are present; present a fresh run with its config, logs and checkpoint before claiming a reproduced benchmark.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We Made to the Base Paper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07040" cy="31577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(4D-GS)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preprocess/ package: SAM 2 masks, CLIP features, text-guided labels, 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+ poses + timestamps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semantic_loader.py adds label maps, dense CLIP and text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Appearance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gaussian_model.py: learnable semantic attribute per Gaussian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(+ depth)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Multi-pass rendering: semantic/CLIP channels split into 3-channel chunks, rendered per pass, concatenated; same alpha-blending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+ SSIM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train.py: joint RGB + semantic loss (semantic_loss.py); new CLI arguments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video /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render.py &amp; edit.py: semantic label/feature video + SC-GS ARAP 3D object manipulation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Command-line scripts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Four guided Colab notebooks (Phases 1–4) + Interactive WebGL 3D Viewer (demo.html)</a:t>
                      </a: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Implementation Status vs. Original Proposal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Repository implementation status; execution and metric validation are tracked separately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07040" cy="3538728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Evidence / boundary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4D-GS training/render path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In repo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Dynamic model, training and rendering modules are present.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SAM 2 mask extraction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Per-frame extraction path; weights and runtime setup required.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CLIP features and labels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OpenCLIP image/text features and prompt-based labeling path.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Semantic Gaussian supervision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Loader and training/render hooks exist; fresh metrics not verified here.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Grounding DINO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Integration path exists; real detector requires model weights/config.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Gaussian editing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Prototype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Class selection and position edits; not a full ARAP energy solver.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Web demo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Illustrative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D343C"/>
                          </a:solidFill>
                          <a:latin typeface="Arial"/>
                        </a:rPr>
                        <a:t>Not connected to trained dynamic 4D-GS inference.</a:t>
                      </a:r>
                    </a:p>
                  </a:txBody>
                  <a:tcPr marL="91440" marR="91440" marT="32004" marB="22860" anchor="ctr">
                    <a:lnL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500"/>
            </a:pPr>
            <a:r>
              <a:t>Status means the code path is present—not that every stage has a reproducible end-to-end run. See the next slides for evidence and validation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Prototype Results &amp; Evaluation Status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Implemented functionality is distinct from reproducible quantitative evidence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070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548"/>
                <a:gridCol w="3606393"/>
                <a:gridCol w="4667097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91440" marR="91440" marT="32004" marB="22860" anchor="ctr">
                    <a:solidFill>
                      <a:srgbClr val="1733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Repository evidence</a:t>
                      </a:r>
                    </a:p>
                  </a:txBody>
                  <a:tcPr marL="91440" marR="91440" marT="32004" marB="22860" anchor="ctr">
                    <a:solidFill>
                      <a:srgbClr val="1733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Safe interpretation</a:t>
                      </a:r>
                    </a:p>
                  </a:txBody>
                  <a:tcPr marL="91440" marR="91440" marT="32004" marB="22860" anchor="ctr">
                    <a:solidFill>
                      <a:srgbClr val="173354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Dynamic reconstruction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4D-GS model, training and render code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Pipeline is present; reproduce with a recorded setup.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2D semantics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SAM 2 + OpenCLIP extraction modules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Extraction path is implemented; outputs depend on weights/prompts.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Semantic lifting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Semantic loader and train/render hooks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End-to-end accuracy needs rendered predictions and ground truth.</a:t>
                      </a:r>
                    </a:p>
                  </a:txBody>
                  <a:tcPr marL="91440" marR="91440" marT="32004" marB="22860" anchor="ctr">
                    <a:solidFill>
                      <a:srgbClr val="FFFFFF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Object editing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Class selection and Gaussian position transforms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D343C"/>
                          </a:solidFill>
                          <a:latin typeface="Arial"/>
                        </a:rPr>
                        <a:t>Prototype behavior; full 4D/covariance consistency needs testing.</a:t>
                      </a:r>
                    </a:p>
                  </a:txBody>
                  <a:tcPr marL="91440" marR="91440" marT="32004" marB="22860"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370832"/>
            <a:ext cx="10607040" cy="1417320"/>
          </a:xfrm>
          <a:prstGeom prst="roundRect">
            <a:avLst/>
          </a:prstGeom>
          <a:solidFill>
            <a:srgbClr val="FFF8E1"/>
          </a:solidFill>
          <a:ln>
            <a:solidFill>
              <a:srgbClr val="E2C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4462272"/>
            <a:ext cx="10314432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2D343C"/>
                </a:solidFill>
                <a:latin typeface="Arial"/>
              </a:rPr>
              <a:t>The checked-in evaluator can report pixel-space label-map IoU when predictions and ground truth are supplied. It does not verify PSNR/SSIM, temporal consistency, FPS or editing latency. Historical draft values for these metrics are unverified; do not present them as final results without archived runs, configs and metric definitions.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Summary, Limitations &amp; Next Steps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772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promising research prototype; quantitative claims require reproducible evaluation</a:t>
            </a:r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645920"/>
            <a:ext cx="3429000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Implemented Prototype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defRPr sz="1400">
                <a:latin typeface="Arial"/>
              </a:defRPr>
            </a:pPr>
            <a:r>
              <a:t>• 4D-GS-based dynamic reconstruction code path.</a:t>
            </a:r>
          </a:p>
          <a:p>
            <a:pPr>
              <a:spcAft>
                <a:spcPts val="700"/>
              </a:spcAft>
              <a:defRPr sz="1400">
                <a:latin typeface="Arial"/>
              </a:defRPr>
            </a:pPr>
            <a:r>
              <a:t>• SAM 2 + CLIP semantic extraction and supervision path.</a:t>
            </a:r>
          </a:p>
          <a:p>
            <a:pPr>
              <a:spcAft>
                <a:spcPts val="700"/>
              </a:spcAft>
              <a:defRPr sz="1400">
                <a:latin typeface="Arial"/>
              </a:defRPr>
            </a:pPr>
            <a:r>
              <a:t>• Semantic loading/rendering integration.</a:t>
            </a:r>
          </a:p>
          <a:p>
            <a:pPr>
              <a:spcAft>
                <a:spcPts val="700"/>
              </a:spcAft>
              <a:defRPr sz="1400">
                <a:latin typeface="Arial"/>
              </a:defRPr>
            </a:pPr>
            <a:r>
              <a:t>• Gaussian selection and editing prototype.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429000" cy="548640"/>
          </a:xfrm>
          <a:prstGeom prst="rect">
            <a:avLst/>
          </a:prstGeom>
          <a:solidFill>
            <a:srgbClr val="1F6F8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7200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• Semantic quality depends on 2D model masks, prompts and occlusion.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• Fresh training/evaluation runs and ground-truth labels are needed.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• Editing changes Gaussian positions; full temporal/covariance consistency is unverified.</a:t>
            </a:r>
          </a:p>
          <a:p>
            <a:pPr>
              <a:spcAft>
                <a:spcPts val="600"/>
              </a:spcAft>
              <a:defRPr sz="1300">
                <a:latin typeface="Arial"/>
              </a:defRPr>
            </a:pPr>
            <a:r>
              <a:t>• Static multi-view voting is a separate pipeline from dynamic 4D training.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645920"/>
            <a:ext cx="3429000" cy="4434840"/>
          </a:xfrm>
          <a:prstGeom prst="rect">
            <a:avLst/>
          </a:prstGeom>
          <a:solidFill>
            <a:srgbClr val="EFF2F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01000" y="1645920"/>
            <a:ext cx="3429000" cy="548640"/>
          </a:xfrm>
          <a:prstGeom prst="rect">
            <a:avLst/>
          </a:prstGeom>
          <a:solidFill>
            <a:srgbClr val="142F4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183880" y="1645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Takeaway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818388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• This work is a prototype for semantic-aware dynamic Gaussian reconstruction and editing.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• Its central idea is to connect 2D semantic supervision to a dynamic Gaussian workflow.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• Next: run reproducible benchmarks against the unmodified 4D-GS baseline under matched settings.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Semantic-Aware Editable Dynamic 3D Reconstruction via Gaussian Splatting   |   Course Project Final Review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5152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|  Semantic-Aware Editable Dynamic 3D Reconstruction via Gaussian Splatting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2296" cy="868680"/>
          </a:xfrm>
          <a:prstGeom prst="rect">
            <a:avLst/>
          </a:prstGeom>
          <a:solidFill>
            <a:srgbClr val="227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173354"/>
                </a:solidFill>
                <a:latin typeface="Arial"/>
              </a:rPr>
              <a:t>What Is Implemented / What Is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A636C"/>
                </a:solidFill>
                <a:latin typeface="Arial"/>
              </a:rPr>
              <a:t>A source-level implementation review is not the same as experimental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36C"/>
                </a:solidFill>
                <a:latin typeface="Arial"/>
              </a:rPr>
              <a:t>Semantic-Aware Editable Dynamic 3D Reconstruction via Gaussian Splatting   |   Course Project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27632"/>
            <a:ext cx="5166360" cy="45262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27632"/>
            <a:ext cx="5166360" cy="566928"/>
          </a:xfrm>
          <a:prstGeom prst="rect">
            <a:avLst/>
          </a:prstGeom>
          <a:solidFill>
            <a:srgbClr val="227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91640"/>
            <a:ext cx="48371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Implemented in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77440"/>
            <a:ext cx="47640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  <a:latin typeface="Arial"/>
              </a:defRPr>
            </a:pPr>
            <a:r>
              <a:t>• 4D-GS-based dynamic reconstruction and rendering code path.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  <a:latin typeface="Arial"/>
              </a:defRPr>
            </a:pPr>
            <a:r>
              <a:t>• SAM 2 masks and OpenCLIP image/text feature extraction.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  <a:latin typeface="Arial"/>
              </a:defRPr>
            </a:pPr>
            <a:r>
              <a:t>• Semantic data loading plus training/render integration hooks.</a:t>
            </a:r>
          </a:p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  <a:latin typeface="Arial"/>
              </a:defRPr>
            </a:pPr>
            <a:r>
              <a:t>• Gaussian selection/editing prototype; separate static multi-view projection and voting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627632"/>
            <a:ext cx="5166360" cy="4526280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627632"/>
            <a:ext cx="5166360" cy="566928"/>
          </a:xfrm>
          <a:prstGeom prst="rect">
            <a:avLst/>
          </a:prstGeom>
          <a:solidFill>
            <a:srgbClr val="227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91640"/>
            <a:ext cx="483717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Validated / still to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47640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343C"/>
                </a:solidFill>
                <a:latin typeface="Arial"/>
              </a:defRPr>
            </a:pPr>
            <a:r>
              <a:t>• Source modules, command-line entry points and phase notebooks are present.</a:t>
            </a:r>
          </a:p>
          <a:p>
            <a:pPr>
              <a:spcAft>
                <a:spcPts val="1000"/>
              </a:spcAft>
              <a:defRPr sz="1400">
                <a:solidFill>
                  <a:srgbClr val="2D343C"/>
                </a:solidFill>
                <a:latin typeface="Arial"/>
              </a:defRPr>
            </a:pPr>
            <a:r>
              <a:t>• A fresh end-to-end run is not established by source presence alone.</a:t>
            </a:r>
          </a:p>
          <a:p>
            <a:pPr>
              <a:spcAft>
                <a:spcPts val="1000"/>
              </a:spcAft>
              <a:defRPr sz="1400">
                <a:solidFill>
                  <a:srgbClr val="2D343C"/>
                </a:solidFill>
                <a:latin typeface="Arial"/>
              </a:defRPr>
            </a:pPr>
            <a:r>
              <a:t>• Current evaluator needs rendered labels and ground truth; it measures pixel-label IoU only.</a:t>
            </a:r>
          </a:p>
          <a:p>
            <a:pPr>
              <a:spcAft>
                <a:spcPts val="1000"/>
              </a:spcAft>
              <a:defRPr sz="1400">
                <a:solidFill>
                  <a:srgbClr val="2D343C"/>
                </a:solidFill>
                <a:latin typeface="Arial"/>
              </a:defRPr>
            </a:pPr>
            <a:r>
              <a:t>• Re-run with archived configs, checkpoints and logs; separately define and test image quality, temporal consistency, speed and editing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1506</Words>
  <Application>Microsoft Office PowerPoint</Application>
  <PresentationFormat>Widescreen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2026-09-30T18:10:07Z</dcterms:created>
  <dcterms:modified xsi:type="dcterms:W3CDTF">2026-10-01T08:17:01Z</dcterms:modified>
</cp:coreProperties>
</file>